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122A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508760"/>
            <a:ext cx="1078992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>
                <a:solidFill>
                  <a:srgbClr val="122A49"/>
                </a:solidFill>
              </a:defRPr>
            </a:pPr>
            <a:r>
              <a:t>Phishing ético</a:t>
            </a:r>
          </a:p>
          <a:p>
            <a:pPr>
              <a:defRPr sz="2200">
                <a:solidFill>
                  <a:srgbClr val="2A3037"/>
                </a:solidFill>
              </a:defRPr>
            </a:pPr>
            <a:r>
              <a:t>Simulación de ingeniería social · NexaCore Solutions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3657600"/>
            <a:ext cx="3383280" cy="1417320"/>
          </a:xfrm>
          <a:prstGeom prst="roundRect">
            <a:avLst/>
          </a:prstGeom>
          <a:solidFill>
            <a:srgbClr val="F3F6F9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96112" y="3785615"/>
            <a:ext cx="3054096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22A49"/>
                </a:solidFill>
              </a:defRPr>
            </a:pPr>
            <a:r>
              <a:t>Herramienta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" y="4187952"/>
            <a:ext cx="3054096" cy="7955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2A3037"/>
                </a:solidFill>
              </a:defRPr>
            </a:pPr>
            <a:r>
              <a:t>GoPhish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3657600"/>
            <a:ext cx="3383280" cy="1417320"/>
          </a:xfrm>
          <a:prstGeom prst="roundRect">
            <a:avLst/>
          </a:prstGeom>
          <a:solidFill>
            <a:srgbClr val="F3F6F9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53712" y="3785615"/>
            <a:ext cx="3054096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22A49"/>
                </a:solidFill>
              </a:defRPr>
            </a:pPr>
            <a:r>
              <a:t>Vector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53712" y="4187952"/>
            <a:ext cx="3054096" cy="7955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2A3037"/>
                </a:solidFill>
              </a:defRPr>
            </a:pPr>
            <a:r>
              <a:t>Correo + llamada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3657600"/>
            <a:ext cx="3383280" cy="1417320"/>
          </a:xfrm>
          <a:prstGeom prst="roundRect">
            <a:avLst/>
          </a:prstGeom>
          <a:solidFill>
            <a:srgbClr val="F3F6F9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11312" y="3785615"/>
            <a:ext cx="3054096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22A49"/>
                </a:solidFill>
              </a:defRPr>
            </a:pPr>
            <a:r>
              <a:t>Objetivo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11312" y="4187952"/>
            <a:ext cx="3054096" cy="7955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2A3037"/>
                </a:solidFill>
              </a:defRPr>
            </a:pPr>
            <a:r>
              <a:t>Concienciación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94360" y="6537960"/>
            <a:ext cx="10972800" cy="27432"/>
          </a:xfrm>
          <a:prstGeom prst="rect">
            <a:avLst/>
          </a:prstGeom>
          <a:solidFill>
            <a:srgbClr val="265B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4360" y="658368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9737D"/>
                </a:solidFill>
              </a:defRPr>
            </a:pPr>
            <a:r>
              <a:t>Phishing ético · NexaCore Solutions · GoPhish    |    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22A49"/>
                </a:solidFill>
              </a:defRPr>
            </a:pPr>
            <a:r>
              <a:t>1. Escenario del ataque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965960"/>
            <a:ext cx="1691640" cy="1828800"/>
          </a:xfrm>
          <a:prstGeom prst="roundRect">
            <a:avLst/>
          </a:prstGeom>
          <a:solidFill>
            <a:srgbClr val="F3F6F9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67512" y="2093976"/>
            <a:ext cx="1362456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22A49"/>
                </a:solidFill>
              </a:defRPr>
            </a:pPr>
            <a:r>
              <a:t>EMAIL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67512" y="2496312"/>
            <a:ext cx="1362456" cy="120700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2A3037"/>
                </a:solidFill>
              </a:defRPr>
            </a:pPr>
            <a:r>
              <a:t>Formación pendiente</a:t>
            </a:r>
            <a:br/>
            <a:r>
              <a:t>“Due today”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176272" y="2560320"/>
            <a:ext cx="320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265B8C"/>
                </a:solidFill>
              </a:defRPr>
            </a:pPr>
            <a:r>
              <a:t>→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404872" y="1965960"/>
            <a:ext cx="1691640" cy="1828800"/>
          </a:xfrm>
          <a:prstGeom prst="roundRect">
            <a:avLst/>
          </a:prstGeom>
          <a:solidFill>
            <a:srgbClr val="F3F6F9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569464" y="2093976"/>
            <a:ext cx="1362456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22A49"/>
                </a:solidFill>
              </a:defRPr>
            </a:pPr>
            <a:r>
              <a:t>URGENCIA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569464" y="2496312"/>
            <a:ext cx="1362456" cy="120700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2A3037"/>
                </a:solidFill>
              </a:defRPr>
            </a:pPr>
            <a:r>
              <a:t>Plazo inmediato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078224" y="2560320"/>
            <a:ext cx="320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265B8C"/>
                </a:solidFill>
              </a:defRPr>
            </a:pPr>
            <a: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06824" y="1965960"/>
            <a:ext cx="1691640" cy="1828800"/>
          </a:xfrm>
          <a:prstGeom prst="roundRect">
            <a:avLst/>
          </a:prstGeom>
          <a:solidFill>
            <a:srgbClr val="F3F6F9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71416" y="2093976"/>
            <a:ext cx="1362456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22A49"/>
                </a:solidFill>
              </a:defRPr>
            </a:pPr>
            <a:r>
              <a:t>LLAMADA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71416" y="2496312"/>
            <a:ext cx="1362456" cy="120700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2A3037"/>
                </a:solidFill>
              </a:defRPr>
            </a:pPr>
            <a:r>
              <a:t>Supuesto RR. HH.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80176" y="2560320"/>
            <a:ext cx="320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265B8C"/>
                </a:solidFill>
              </a:defRPr>
            </a:pPr>
            <a: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08776" y="1965960"/>
            <a:ext cx="1691640" cy="1828800"/>
          </a:xfrm>
          <a:prstGeom prst="roundRect">
            <a:avLst/>
          </a:prstGeom>
          <a:solidFill>
            <a:srgbClr val="F3F6F9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73368" y="2093976"/>
            <a:ext cx="1362456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22A49"/>
                </a:solidFill>
              </a:defRPr>
            </a:pPr>
            <a:r>
              <a:t>CLIC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73368" y="2496312"/>
            <a:ext cx="1362456" cy="120700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2A3037"/>
                </a:solidFill>
              </a:defRPr>
            </a:pPr>
            <a:r>
              <a:t>Enlace de formación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882128" y="2560320"/>
            <a:ext cx="320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265B8C"/>
                </a:solidFill>
              </a:defRPr>
            </a:pPr>
            <a:r>
              <a:t>→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110728" y="1965960"/>
            <a:ext cx="1691640" cy="1828800"/>
          </a:xfrm>
          <a:prstGeom prst="roundRect">
            <a:avLst/>
          </a:prstGeom>
          <a:solidFill>
            <a:srgbClr val="F3F6F9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75320" y="2093976"/>
            <a:ext cx="1362456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22A49"/>
                </a:solidFill>
              </a:defRPr>
            </a:pPr>
            <a:r>
              <a:t>GoPhish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75320" y="2496312"/>
            <a:ext cx="1362456" cy="120700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2A3037"/>
                </a:solidFill>
              </a:defRPr>
            </a:pPr>
            <a:r>
              <a:t>Registra interacción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784080" y="2560320"/>
            <a:ext cx="320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265B8C"/>
                </a:solidFill>
              </a:defRPr>
            </a:pPr>
            <a:r>
              <a:t>→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0012680" y="1965960"/>
            <a:ext cx="1691640" cy="1828800"/>
          </a:xfrm>
          <a:prstGeom prst="roundRect">
            <a:avLst/>
          </a:prstGeom>
          <a:solidFill>
            <a:srgbClr val="F3F6F9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177272" y="2093976"/>
            <a:ext cx="1362456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22A49"/>
                </a:solidFill>
              </a:defRPr>
            </a:pPr>
            <a:r>
              <a:t>¡HAS PICADO!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177272" y="2496312"/>
            <a:ext cx="1362456" cy="120700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2A3037"/>
                </a:solidFill>
              </a:defRPr>
            </a:pPr>
            <a:r>
              <a:t>Concienciación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94360" y="6537960"/>
            <a:ext cx="10972800" cy="27432"/>
          </a:xfrm>
          <a:prstGeom prst="rect">
            <a:avLst/>
          </a:prstGeom>
          <a:solidFill>
            <a:srgbClr val="265B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94360" y="658368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9737D"/>
                </a:solidFill>
              </a:defRPr>
            </a:pPr>
            <a:r>
              <a:t>Phishing ético · NexaCore Solutions · GoPhish    |   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22A49"/>
                </a:solidFill>
              </a:defRPr>
            </a:pPr>
            <a:r>
              <a:t>2. Técnicas de ingeniería social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417320"/>
            <a:ext cx="5257800" cy="1005840"/>
          </a:xfrm>
          <a:prstGeom prst="roundRect">
            <a:avLst/>
          </a:prstGeom>
          <a:solidFill>
            <a:srgbClr val="F3F6F9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50392" y="1545336"/>
            <a:ext cx="4928616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22A49"/>
                </a:solidFill>
              </a:defRPr>
            </a:pPr>
            <a:r>
              <a:t>Autoridad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0392" y="1947672"/>
            <a:ext cx="4928616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2A3037"/>
                </a:solidFill>
              </a:defRPr>
            </a:pPr>
            <a:r>
              <a:t>Supuesto departamento de Learning / People de NexaCore Solutions.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1417320"/>
            <a:ext cx="5257800" cy="1005840"/>
          </a:xfrm>
          <a:prstGeom prst="roundRect">
            <a:avLst/>
          </a:prstGeom>
          <a:solidFill>
            <a:srgbClr val="F3F6F9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73952" y="1545336"/>
            <a:ext cx="4928616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22A49"/>
                </a:solidFill>
              </a:defRPr>
            </a:pPr>
            <a:r>
              <a:t>Urgencia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73952" y="1947672"/>
            <a:ext cx="4928616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2A3037"/>
                </a:solidFill>
              </a:defRPr>
            </a:pPr>
            <a:r>
              <a:t>“Your training is due today.”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651760"/>
            <a:ext cx="5257800" cy="1005840"/>
          </a:xfrm>
          <a:prstGeom prst="roundRect">
            <a:avLst/>
          </a:prstGeom>
          <a:solidFill>
            <a:srgbClr val="F3F6F9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50392" y="2779776"/>
            <a:ext cx="4928616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22A49"/>
                </a:solidFill>
              </a:defRPr>
            </a:pPr>
            <a:r>
              <a:t>Obligación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0392" y="3182112"/>
            <a:ext cx="4928616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2A3037"/>
                </a:solidFill>
              </a:defRPr>
            </a:pPr>
            <a:r>
              <a:t>Formación corporativa pendiente.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09360" y="2651760"/>
            <a:ext cx="5257800" cy="1005840"/>
          </a:xfrm>
          <a:prstGeom prst="roundRect">
            <a:avLst/>
          </a:prstGeom>
          <a:solidFill>
            <a:srgbClr val="F3F6F9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73952" y="2779776"/>
            <a:ext cx="4928616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22A49"/>
                </a:solidFill>
              </a:defRPr>
            </a:pPr>
            <a:r>
              <a:t>Legitimidad visual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73952" y="3182112"/>
            <a:ext cx="4928616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2A3037"/>
                </a:solidFill>
              </a:defRPr>
            </a:pPr>
            <a:r>
              <a:t>Identidad visual y lenguaje corporativos ficticios.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85800" y="3886200"/>
            <a:ext cx="5257800" cy="1005840"/>
          </a:xfrm>
          <a:prstGeom prst="roundRect">
            <a:avLst/>
          </a:prstGeom>
          <a:solidFill>
            <a:srgbClr val="F3F6F9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0392" y="4014215"/>
            <a:ext cx="4928616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22A49"/>
                </a:solidFill>
              </a:defRPr>
            </a:pPr>
            <a:r>
              <a:t>Personalización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0392" y="4416552"/>
            <a:ext cx="4928616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2A3037"/>
                </a:solidFill>
              </a:defRPr>
            </a:pPr>
            <a:r>
              <a:t>Uso del nombre de la víctima: Alex Martín.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309360" y="3886200"/>
            <a:ext cx="5257800" cy="1005840"/>
          </a:xfrm>
          <a:prstGeom prst="roundRect">
            <a:avLst/>
          </a:prstGeom>
          <a:solidFill>
            <a:srgbClr val="F3F6F9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73952" y="4014215"/>
            <a:ext cx="4928616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22A49"/>
                </a:solidFill>
              </a:defRPr>
            </a:pPr>
            <a:r>
              <a:t>Presión social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73952" y="4416552"/>
            <a:ext cx="4928616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2A3037"/>
                </a:solidFill>
              </a:defRPr>
            </a:pPr>
            <a:r>
              <a:t>Llamada posterior de supuesto RR. HH.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" y="5120640"/>
            <a:ext cx="5257800" cy="1005840"/>
          </a:xfrm>
          <a:prstGeom prst="roundRect">
            <a:avLst/>
          </a:prstGeom>
          <a:solidFill>
            <a:srgbClr val="F3F6F9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50392" y="5248656"/>
            <a:ext cx="4928616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22A49"/>
                </a:solidFill>
              </a:defRPr>
            </a:pPr>
            <a:r>
              <a:t>Baja fricción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50392" y="5650992"/>
            <a:ext cx="4928616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2A3037"/>
                </a:solidFill>
              </a:defRPr>
            </a:pPr>
            <a:r>
              <a:t>Curso de aproximadamente 20 minutos.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94360" y="6537960"/>
            <a:ext cx="10972800" cy="27432"/>
          </a:xfrm>
          <a:prstGeom prst="rect">
            <a:avLst/>
          </a:prstGeom>
          <a:solidFill>
            <a:srgbClr val="265B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94360" y="658368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9737D"/>
                </a:solidFill>
              </a:defRPr>
            </a:pPr>
            <a:r>
              <a:t>Phishing ético · NexaCore Solutions · GoPhish    |   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22A49"/>
                </a:solidFill>
              </a:defRPr>
            </a:pPr>
            <a:r>
              <a:t>3. Análisis del correo simulado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25880"/>
            <a:ext cx="10698480" cy="4526280"/>
          </a:xfrm>
          <a:prstGeom prst="rect">
            <a:avLst/>
          </a:prstGeom>
          <a:solidFill>
            <a:srgbClr val="FFFF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325880"/>
            <a:ext cx="10698480" cy="658368"/>
          </a:xfrm>
          <a:prstGeom prst="rect">
            <a:avLst/>
          </a:prstGeom>
          <a:solidFill>
            <a:srgbClr val="122A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463040"/>
            <a:ext cx="100584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t>NexaCore Solutions · Learning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194560"/>
            <a:ext cx="9966960" cy="3246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400">
                <a:solidFill>
                  <a:srgbClr val="2A3037"/>
                </a:solidFill>
              </a:defRPr>
            </a:pPr>
            <a:r>
              <a:t>Dear Alex Martín,</a:t>
            </a:r>
          </a:p>
          <a:p>
            <a:pPr>
              <a:spcAft>
                <a:spcPts val="900"/>
              </a:spcAft>
              <a:defRPr sz="1400">
                <a:solidFill>
                  <a:srgbClr val="2A3037"/>
                </a:solidFill>
              </a:defRPr>
            </a:pPr>
            <a:r>
              <a:t>Your training is due today for the following item:</a:t>
            </a:r>
          </a:p>
          <a:p>
            <a:pPr>
              <a:spcAft>
                <a:spcPts val="900"/>
              </a:spcAft>
              <a:defRPr sz="1400">
                <a:solidFill>
                  <a:srgbClr val="2A3037"/>
                </a:solidFill>
              </a:defRPr>
            </a:pPr>
            <a:r>
              <a:t>Title: Workplace Safety &amp; Incident Response – ENG</a:t>
            </a:r>
          </a:p>
          <a:p>
            <a:pPr>
              <a:spcAft>
                <a:spcPts val="900"/>
              </a:spcAft>
              <a:defRPr sz="1400">
                <a:solidFill>
                  <a:srgbClr val="2A3037"/>
                </a:solidFill>
              </a:defRPr>
            </a:pPr>
            <a:r>
              <a:t>Class Description: This training covers essential workplace safety and incident-response procedures.</a:t>
            </a:r>
          </a:p>
          <a:p>
            <a:pPr>
              <a:spcAft>
                <a:spcPts val="900"/>
              </a:spcAft>
              <a:defRPr sz="1400">
                <a:solidFill>
                  <a:srgbClr val="2A3037"/>
                </a:solidFill>
              </a:defRPr>
            </a:pPr>
            <a:r>
              <a:t>Due Date: TODAY     ·     Training Hours: 0 Hours 20 Minutes</a:t>
            </a:r>
          </a:p>
          <a:p>
            <a:pPr>
              <a:spcAft>
                <a:spcPts val="900"/>
              </a:spcAft>
              <a:defRPr sz="1400">
                <a:solidFill>
                  <a:srgbClr val="2A3037"/>
                </a:solidFill>
              </a:defRPr>
            </a:pPr>
            <a:r>
              <a:t>Access your training through: My Learning Page  |  SSO Login  |  Learner Home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68680" y="5349240"/>
            <a:ext cx="2423160" cy="594360"/>
          </a:xfrm>
          <a:prstGeom prst="roundRect">
            <a:avLst/>
          </a:prstGeom>
          <a:solidFill>
            <a:srgbClr val="F3F6F9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33271" y="5477255"/>
            <a:ext cx="2093976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B92630"/>
                </a:solidFill>
              </a:defRPr>
            </a:pPr>
            <a:r>
              <a:t>① Remitente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3271" y="5879592"/>
            <a:ext cx="2093976" cy="-274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2A3037"/>
                </a:solidFill>
              </a:defRPr>
            </a:pPr>
            <a:r>
              <a:t>Comunicación corporativa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74720" y="5349240"/>
            <a:ext cx="2423160" cy="594360"/>
          </a:xfrm>
          <a:prstGeom prst="roundRect">
            <a:avLst/>
          </a:prstGeom>
          <a:solidFill>
            <a:srgbClr val="F3F6F9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39312" y="5477255"/>
            <a:ext cx="2093976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B92630"/>
                </a:solidFill>
              </a:defRPr>
            </a:pPr>
            <a:r>
              <a:t>② Urgencia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39312" y="5879592"/>
            <a:ext cx="2093976" cy="-274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2A3037"/>
                </a:solidFill>
              </a:defRPr>
            </a:pPr>
            <a:r>
              <a:t>Due today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80760" y="5349240"/>
            <a:ext cx="2423160" cy="594360"/>
          </a:xfrm>
          <a:prstGeom prst="roundRect">
            <a:avLst/>
          </a:prstGeom>
          <a:solidFill>
            <a:srgbClr val="F3F6F9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45352" y="5477255"/>
            <a:ext cx="2093976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B92630"/>
                </a:solidFill>
              </a:defRPr>
            </a:pPr>
            <a:r>
              <a:t>③ Obligación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45352" y="5879592"/>
            <a:ext cx="2093976" cy="-274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2A3037"/>
                </a:solidFill>
              </a:defRPr>
            </a:pPr>
            <a:r>
              <a:t>Training pendiente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686800" y="5349240"/>
            <a:ext cx="2423160" cy="594360"/>
          </a:xfrm>
          <a:prstGeom prst="roundRect">
            <a:avLst/>
          </a:prstGeom>
          <a:solidFill>
            <a:srgbClr val="F3F6F9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851392" y="5477255"/>
            <a:ext cx="2093976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B92630"/>
                </a:solidFill>
              </a:defRPr>
            </a:pPr>
            <a:r>
              <a:t>④ Enlace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51392" y="5879592"/>
            <a:ext cx="2093976" cy="-274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2A3037"/>
                </a:solidFill>
              </a:defRPr>
            </a:pPr>
            <a:r>
              <a:t>Acceso a formación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94360" y="6537960"/>
            <a:ext cx="10972800" cy="27432"/>
          </a:xfrm>
          <a:prstGeom prst="rect">
            <a:avLst/>
          </a:prstGeom>
          <a:solidFill>
            <a:srgbClr val="265B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94360" y="658368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9737D"/>
                </a:solidFill>
              </a:defRPr>
            </a:pPr>
            <a:r>
              <a:t>Phishing ético · NexaCore Solutions · GoPhish    |   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22A49"/>
                </a:solidFill>
              </a:defRPr>
            </a:pPr>
            <a:r>
              <a:t>4. Email de phishing simulado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960120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9737D"/>
                </a:solidFill>
              </a:defRPr>
            </a:pPr>
            <a:r>
              <a:t>Empresa, identidad visual y dominio completamente ficticios</a:t>
            </a:r>
          </a:p>
        </p:txBody>
      </p:sp>
      <p:sp>
        <p:nvSpPr>
          <p:cNvPr id="5" name="Rectangle 4"/>
          <p:cNvSpPr/>
          <p:nvPr/>
        </p:nvSpPr>
        <p:spPr>
          <a:xfrm>
            <a:off x="1143000" y="1325880"/>
            <a:ext cx="9875520" cy="4892040"/>
          </a:xfrm>
          <a:prstGeom prst="rect">
            <a:avLst/>
          </a:prstGeom>
          <a:solidFill/>
          <a:ln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43000" y="1325880"/>
            <a:ext cx="9875520" cy="822960"/>
          </a:xfrm>
          <a:prstGeom prst="rect">
            <a:avLst/>
          </a:prstGeom>
          <a:solidFill>
            <a:srgbClr val="122A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508760" y="1517904"/>
            <a:ext cx="90525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FFFFF"/>
                </a:solidFill>
              </a:defRPr>
            </a:pPr>
            <a:r>
              <a:t>NexaCore Solutions  |  Learning that supports safer workplaces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54480" y="2423160"/>
            <a:ext cx="89611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>
                <a:solidFill>
                  <a:srgbClr val="2A3037"/>
                </a:solidFill>
              </a:defRPr>
            </a:pPr>
            <a:r>
              <a:t>Dear Alex Martín,</a:t>
            </a:r>
          </a:p>
          <a:p>
            <a:pPr>
              <a:spcAft>
                <a:spcPts val="1200"/>
              </a:spcAft>
              <a:defRPr sz="1600">
                <a:solidFill>
                  <a:srgbClr val="2A3037"/>
                </a:solidFill>
              </a:defRPr>
            </a:pPr>
            <a:r>
              <a:t>Your training is due today for the following item:</a:t>
            </a:r>
          </a:p>
          <a:p>
            <a:pPr>
              <a:spcAft>
                <a:spcPts val="1200"/>
              </a:spcAft>
              <a:defRPr sz="1600">
                <a:solidFill>
                  <a:srgbClr val="2A3037"/>
                </a:solidFill>
              </a:defRPr>
            </a:pPr>
            <a:r>
              <a:t>Title: Workplace Safety &amp; Incident Response – ENG</a:t>
            </a:r>
          </a:p>
          <a:p>
            <a:pPr>
              <a:spcAft>
                <a:spcPts val="1200"/>
              </a:spcAft>
              <a:defRPr sz="1600">
                <a:solidFill>
                  <a:srgbClr val="2A3037"/>
                </a:solidFill>
              </a:defRPr>
            </a:pPr>
            <a:r>
              <a:t>Due Date: TODAY</a:t>
            </a:r>
          </a:p>
          <a:p>
            <a:pPr>
              <a:spcAft>
                <a:spcPts val="1200"/>
              </a:spcAft>
              <a:defRPr sz="1600">
                <a:solidFill>
                  <a:srgbClr val="2A3037"/>
                </a:solidFill>
              </a:defRPr>
            </a:pPr>
            <a:r>
              <a:t>Training Hours: 0 Hours 20 Minutes</a:t>
            </a:r>
          </a:p>
          <a:p>
            <a:pPr>
              <a:spcAft>
                <a:spcPts val="1200"/>
              </a:spcAft>
              <a:defRPr sz="1600">
                <a:solidFill>
                  <a:srgbClr val="2A3037"/>
                </a:solidFill>
              </a:defRPr>
            </a:pPr>
            <a:r>
              <a:t>Access your training:  My Learning Page  |  SSO Login  |  Learner Home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54480" y="5623560"/>
            <a:ext cx="89611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2E7D5B"/>
                </a:solidFill>
              </a:defRPr>
            </a:pPr>
            <a:r>
              <a:t>⚠ Dominio de laboratorio: nexacore-learning.example · Sin recopilación de credenciales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4360" y="6537960"/>
            <a:ext cx="10972800" cy="27432"/>
          </a:xfrm>
          <a:prstGeom prst="rect">
            <a:avLst/>
          </a:prstGeom>
          <a:solidFill>
            <a:srgbClr val="265B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658368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9737D"/>
                </a:solidFill>
              </a:defRPr>
            </a:pPr>
            <a:r>
              <a:t>Phishing ético · NexaCore Solutions · GoPhish    |   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22A49"/>
                </a:solidFill>
              </a:defRPr>
            </a:pPr>
            <a:r>
              <a:t>5. Llamada de ingeniería social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960120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9737D"/>
                </a:solidFill>
              </a:defRPr>
            </a:pPr>
            <a:r>
              <a:t>Supuesto contacto del equipo de People / RR. HH.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17320"/>
            <a:ext cx="3383280" cy="1325880"/>
          </a:xfrm>
          <a:prstGeom prst="roundRect">
            <a:avLst/>
          </a:prstGeom>
          <a:solidFill>
            <a:srgbClr val="F3F6F9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96112" y="1545336"/>
            <a:ext cx="3054096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22A49"/>
                </a:solidFill>
              </a:defRPr>
            </a:pPr>
            <a:r>
              <a:t>1 · Confirmación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" y="1947672"/>
            <a:ext cx="3054096" cy="70408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2A3037"/>
                </a:solidFill>
              </a:defRPr>
            </a:pPr>
            <a:r>
              <a:t>“¿Te ha llegado el correo sobre la formación?”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417320"/>
            <a:ext cx="3383280" cy="1325880"/>
          </a:xfrm>
          <a:prstGeom prst="roundRect">
            <a:avLst/>
          </a:prstGeom>
          <a:solidFill>
            <a:srgbClr val="F3F6F9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53712" y="1545336"/>
            <a:ext cx="3054096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22A49"/>
                </a:solidFill>
              </a:defRPr>
            </a:pPr>
            <a:r>
              <a:t>2 · Autoridad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53712" y="1947672"/>
            <a:ext cx="3054096" cy="70408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2A3037"/>
                </a:solidFill>
              </a:defRPr>
            </a:pPr>
            <a:r>
              <a:t>“Soy del equipo de People.”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1417320"/>
            <a:ext cx="3383280" cy="1325880"/>
          </a:xfrm>
          <a:prstGeom prst="roundRect">
            <a:avLst/>
          </a:prstGeom>
          <a:solidFill>
            <a:srgbClr val="F3F6F9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11312" y="1545336"/>
            <a:ext cx="3054096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22A49"/>
                </a:solidFill>
              </a:defRPr>
            </a:pPr>
            <a:r>
              <a:t>3 · Urgencia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11312" y="1947672"/>
            <a:ext cx="3054096" cy="70408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2A3037"/>
                </a:solidFill>
              </a:defRPr>
            </a:pPr>
            <a:r>
              <a:t>“El plazo termina hoy.”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43000" y="3154680"/>
            <a:ext cx="9875520" cy="1965960"/>
          </a:xfrm>
          <a:prstGeom prst="roundRect">
            <a:avLst/>
          </a:prstGeom>
          <a:solidFill>
            <a:srgbClr val="F3F6F9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508760" y="3429000"/>
            <a:ext cx="91440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i="1">
                <a:solidFill>
                  <a:srgbClr val="122A49"/>
                </a:solidFill>
              </a:defRPr>
            </a:pPr>
            <a:r>
              <a:t>“Te llamaba porque tenemos una formación obligatoria pendiente en tu perfil.</a:t>
            </a:r>
          </a:p>
          <a:p>
            <a:pPr>
              <a:defRPr sz="1700" i="1">
                <a:solidFill>
                  <a:srgbClr val="2A3037"/>
                </a:solidFill>
              </a:defRPr>
            </a:pPr>
            <a:r>
              <a:t>Es bastante corta, son unos 20 minutos. Si puedes completarla hoy, mejor, así nos aseguramos de que queda registrada.”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94360" y="6537960"/>
            <a:ext cx="10972800" cy="27432"/>
          </a:xfrm>
          <a:prstGeom prst="rect">
            <a:avLst/>
          </a:prstGeom>
          <a:solidFill>
            <a:srgbClr val="265B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94360" y="658368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9737D"/>
                </a:solidFill>
              </a:defRPr>
            </a:pPr>
            <a:r>
              <a:t>Phishing ético · NexaCore Solutions · GoPhish    |   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22A49"/>
                </a:solidFill>
              </a:defRPr>
            </a:pPr>
            <a:r>
              <a:t>6. Ejecución con GoPhish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828800"/>
            <a:ext cx="1874519" cy="1554480"/>
          </a:xfrm>
          <a:prstGeom prst="roundRect">
            <a:avLst/>
          </a:prstGeom>
          <a:solidFill>
            <a:srgbClr val="F3F6F9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50392" y="1956816"/>
            <a:ext cx="1545336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22A49"/>
                </a:solidFill>
              </a:defRPr>
            </a:pPr>
            <a: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0392" y="2359152"/>
            <a:ext cx="1545336" cy="9326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2A3037"/>
                </a:solidFill>
              </a:defRPr>
            </a:pPr>
            <a:r>
              <a:t>Email Template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560320" y="2377440"/>
            <a:ext cx="320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265B8C"/>
                </a:solidFill>
              </a:defRPr>
            </a:pPr>
            <a:r>
              <a:t>→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926080" y="1828800"/>
            <a:ext cx="1874519" cy="1554480"/>
          </a:xfrm>
          <a:prstGeom prst="roundRect">
            <a:avLst/>
          </a:prstGeom>
          <a:solidFill>
            <a:srgbClr val="F3F6F9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090672" y="1956816"/>
            <a:ext cx="1545336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22A49"/>
                </a:solidFill>
              </a:defRPr>
            </a:pPr>
            <a: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090672" y="2359152"/>
            <a:ext cx="1545336" cy="9326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2A3037"/>
                </a:solidFill>
              </a:defRPr>
            </a:pPr>
            <a:r>
              <a:t>Landing Page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00600" y="2377440"/>
            <a:ext cx="320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265B8C"/>
                </a:solidFill>
              </a:defRPr>
            </a:pPr>
            <a: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166360" y="1828800"/>
            <a:ext cx="1874519" cy="1554480"/>
          </a:xfrm>
          <a:prstGeom prst="roundRect">
            <a:avLst/>
          </a:prstGeom>
          <a:solidFill>
            <a:srgbClr val="F3F6F9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330952" y="1956816"/>
            <a:ext cx="1545336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22A49"/>
                </a:solidFill>
              </a:defRPr>
            </a:pPr>
            <a: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30952" y="2359152"/>
            <a:ext cx="1545336" cy="9326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2A3037"/>
                </a:solidFill>
              </a:defRPr>
            </a:pPr>
            <a:r>
              <a:t>Campaign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2377440"/>
            <a:ext cx="320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265B8C"/>
                </a:solidFill>
              </a:defRPr>
            </a:pPr>
            <a: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406640" y="1828800"/>
            <a:ext cx="1874519" cy="1554480"/>
          </a:xfrm>
          <a:prstGeom prst="roundRect">
            <a:avLst/>
          </a:prstGeom>
          <a:solidFill>
            <a:srgbClr val="F3F6F9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571232" y="1956816"/>
            <a:ext cx="1545336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22A49"/>
                </a:solidFill>
              </a:defRPr>
            </a:pPr>
            <a:r>
              <a:t>04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571232" y="2359152"/>
            <a:ext cx="1545336" cy="9326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2A3037"/>
                </a:solidFill>
              </a:defRPr>
            </a:pPr>
            <a:r>
              <a:t>Interaction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81160" y="2377440"/>
            <a:ext cx="320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265B8C"/>
                </a:solidFill>
              </a:defRPr>
            </a:pPr>
            <a:r>
              <a:t>→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646920" y="1828800"/>
            <a:ext cx="1874519" cy="1554480"/>
          </a:xfrm>
          <a:prstGeom prst="roundRect">
            <a:avLst/>
          </a:prstGeom>
          <a:solidFill>
            <a:srgbClr val="F3F6F9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811512" y="1956816"/>
            <a:ext cx="1545336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22A49"/>
                </a:solidFill>
              </a:defRPr>
            </a:pPr>
            <a:r>
              <a:t>05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811512" y="2359152"/>
            <a:ext cx="1545336" cy="9326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2A3037"/>
                </a:solidFill>
              </a:defRPr>
            </a:pPr>
            <a:r>
              <a:t>Redirect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143000" y="4114800"/>
            <a:ext cx="2971800" cy="1234440"/>
          </a:xfrm>
          <a:prstGeom prst="roundRect">
            <a:avLst/>
          </a:prstGeom>
          <a:solidFill>
            <a:srgbClr val="F3F6F9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307592" y="4242816"/>
            <a:ext cx="2642616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22A49"/>
                </a:solidFill>
              </a:defRPr>
            </a:pPr>
            <a:r>
              <a:t>Métrica principal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07592" y="4645152"/>
            <a:ext cx="2642616" cy="6126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2A3037"/>
                </a:solidFill>
              </a:defRPr>
            </a:pPr>
            <a:r>
              <a:t>Interacción con el enlace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617720" y="4114800"/>
            <a:ext cx="2971800" cy="1234440"/>
          </a:xfrm>
          <a:prstGeom prst="roundRect">
            <a:avLst/>
          </a:prstGeom>
          <a:solidFill>
            <a:srgbClr val="F3F6F9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782312" y="4242816"/>
            <a:ext cx="2642616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22A49"/>
                </a:solidFill>
              </a:defRPr>
            </a:pPr>
            <a:r>
              <a:t>Dato NO recopilado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782312" y="4645152"/>
            <a:ext cx="2642616" cy="6126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2A3037"/>
                </a:solidFill>
              </a:defRPr>
            </a:pPr>
            <a:r>
              <a:t>Contraseñas / credenciales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092440" y="4114800"/>
            <a:ext cx="2971800" cy="1234440"/>
          </a:xfrm>
          <a:prstGeom prst="roundRect">
            <a:avLst/>
          </a:prstGeom>
          <a:solidFill>
            <a:srgbClr val="F3F6F9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257031" y="4242816"/>
            <a:ext cx="2642616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22A49"/>
                </a:solidFill>
              </a:defRPr>
            </a:pPr>
            <a:r>
              <a:t>Destino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57031" y="4645152"/>
            <a:ext cx="2642616" cy="6126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2A3037"/>
                </a:solidFill>
              </a:defRPr>
            </a:pPr>
            <a:r>
              <a:t>Landing educativa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94360" y="6537960"/>
            <a:ext cx="10972800" cy="27432"/>
          </a:xfrm>
          <a:prstGeom prst="rect">
            <a:avLst/>
          </a:prstGeom>
          <a:solidFill>
            <a:srgbClr val="265B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94360" y="658368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9737D"/>
                </a:solidFill>
              </a:defRPr>
            </a:pPr>
            <a:r>
              <a:t>Phishing ético · NexaCore Solutions · GoPhish    |    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6984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400" b="1">
                <a:solidFill>
                  <a:srgbClr val="B92630"/>
                </a:solidFill>
              </a:defRPr>
            </a:pPr>
            <a:r>
              <a:t>🚨  ¡HAS PICADO!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143000"/>
            <a:ext cx="99669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2A3037"/>
                </a:solidFill>
              </a:defRPr>
            </a:pPr>
            <a:r>
              <a:t>Esta página forma parte de una simulación académica de phishing ético.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2148840"/>
            <a:ext cx="3337560" cy="2148840"/>
          </a:xfrm>
          <a:prstGeom prst="roundRect">
            <a:avLst/>
          </a:prstGeom>
          <a:solidFill>
            <a:srgbClr val="F3F6F9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87552" y="2276856"/>
            <a:ext cx="3008376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22A49"/>
                </a:solidFill>
              </a:defRPr>
            </a:pPr>
            <a:r>
              <a:t>¿Qué ha ocurrido?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87552" y="2679192"/>
            <a:ext cx="3008376" cy="1527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2A3037"/>
                </a:solidFill>
              </a:defRPr>
            </a:pPr>
            <a:r>
              <a:t>El correo simulaba una comunicación corporativa sobre una formación obligatoria. La llamada reforzó la sensación de urgencia y legitimidad.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34840" y="2148840"/>
            <a:ext cx="3337560" cy="2148840"/>
          </a:xfrm>
          <a:prstGeom prst="roundRect">
            <a:avLst/>
          </a:prstGeom>
          <a:solidFill>
            <a:srgbClr val="F3F6F9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99431" y="2276856"/>
            <a:ext cx="3008376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22A49"/>
                </a:solidFill>
              </a:defRPr>
            </a:pPr>
            <a:r>
              <a:t>🚩 Señales de alerta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99431" y="2679192"/>
            <a:ext cx="3008376" cy="1527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2A3037"/>
                </a:solidFill>
              </a:defRPr>
            </a:pPr>
            <a:r>
              <a:t>Urgencia · autoridad · enlace incluido · presión para actuar · necesidad de verificar la solicitud.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2148840"/>
            <a:ext cx="3337560" cy="2148840"/>
          </a:xfrm>
          <a:prstGeom prst="roundRect">
            <a:avLst/>
          </a:prstGeom>
          <a:solidFill>
            <a:srgbClr val="F3F6F9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11312" y="2276856"/>
            <a:ext cx="3008376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22A49"/>
                </a:solidFill>
              </a:defRPr>
            </a:pPr>
            <a:r>
              <a:t>🛡️ ¿Qué hacer?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11312" y="2679192"/>
            <a:ext cx="3008376" cy="1527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2A3037"/>
                </a:solidFill>
              </a:defRPr>
            </a:pPr>
            <a:r>
              <a:t>Detenerse · verificar remitente y URL · acceder desde el portal oficial · confirmar por un canal conocido.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88720" y="4800600"/>
            <a:ext cx="978408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100" b="1">
                <a:solidFill>
                  <a:srgbClr val="122A49"/>
                </a:solidFill>
              </a:defRPr>
            </a:pPr>
            <a:r>
              <a:t>El objetivo no es conseguir tus credenciales.</a:t>
            </a:r>
            <a:br/>
            <a:r>
              <a:t>El objetivo es enseñarte a reconocer el phishing.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94360" y="6537960"/>
            <a:ext cx="10972800" cy="27432"/>
          </a:xfrm>
          <a:prstGeom prst="rect">
            <a:avLst/>
          </a:prstGeom>
          <a:solidFill>
            <a:srgbClr val="265B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4360" y="658368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9737D"/>
                </a:solidFill>
              </a:defRPr>
            </a:pPr>
            <a:r>
              <a:t>Phishing ético · NexaCore Solutions · GoPhish    |    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22A49"/>
                </a:solidFill>
              </a:defRPr>
            </a:pPr>
            <a:r>
              <a:t>7. Conclusiones y medidas de prevención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417320"/>
            <a:ext cx="1051560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2A3037"/>
                </a:solidFill>
              </a:defRPr>
            </a:pPr>
            <a:r>
              <a:t>• Una identidad visual corporativa no demuestra por sí sola que un mensaje sea legítimo.</a:t>
            </a:r>
          </a:p>
          <a:p>
            <a:pPr>
              <a:spcAft>
                <a:spcPts val="1200"/>
              </a:spcAft>
              <a:defRPr sz="1800">
                <a:solidFill>
                  <a:srgbClr val="2A3037"/>
                </a:solidFill>
              </a:defRPr>
            </a:pPr>
            <a:r>
              <a:t>• La urgencia puede reducir el tiempo dedicado a verificar una solicitud.</a:t>
            </a:r>
          </a:p>
          <a:p>
            <a:pPr>
              <a:spcAft>
                <a:spcPts val="1200"/>
              </a:spcAft>
              <a:defRPr sz="1800">
                <a:solidFill>
                  <a:srgbClr val="2A3037"/>
                </a:solidFill>
              </a:defRPr>
            </a:pPr>
            <a:r>
              <a:t>• Una llamada inesperada puede reforzar la credibilidad de un email.</a:t>
            </a:r>
          </a:p>
          <a:p>
            <a:pPr>
              <a:spcAft>
                <a:spcPts val="1200"/>
              </a:spcAft>
              <a:defRPr sz="1800">
                <a:solidFill>
                  <a:srgbClr val="2A3037"/>
                </a:solidFill>
              </a:defRPr>
            </a:pPr>
            <a:r>
              <a:t>• Las solicitudes sensibles deben verificarse mediante un canal independiente.</a:t>
            </a:r>
          </a:p>
          <a:p>
            <a:pPr>
              <a:spcAft>
                <a:spcPts val="1200"/>
              </a:spcAft>
              <a:defRPr sz="1800">
                <a:solidFill>
                  <a:srgbClr val="2A3037"/>
                </a:solidFill>
              </a:defRPr>
            </a:pPr>
            <a:r>
              <a:t>• El phishing ético debe terminar en concienciación y aprendizaje.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05840" y="5074920"/>
            <a:ext cx="10149840" cy="822960"/>
          </a:xfrm>
          <a:prstGeom prst="roundRect">
            <a:avLst/>
          </a:prstGeom>
          <a:solidFill>
            <a:srgbClr val="122A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5276088"/>
            <a:ext cx="9692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DETENERSE  →  VERIFICAR  →  ACTUAR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6537960"/>
            <a:ext cx="10972800" cy="27432"/>
          </a:xfrm>
          <a:prstGeom prst="rect">
            <a:avLst/>
          </a:prstGeom>
          <a:solidFill>
            <a:srgbClr val="265B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658368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9737D"/>
                </a:solidFill>
              </a:defRPr>
            </a:pPr>
            <a:r>
              <a:t>Phishing ético · NexaCore Solutions · GoPhish    |    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